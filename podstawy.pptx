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000"/>
    <a:srgbClr val="C52150"/>
    <a:srgbClr val="572DA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-232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E98C8-D0C7-4E9E-AC9A-5383EB385CF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F939C-7438-484C-A6CB-A0733B3DE294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75000"/>
              </a:schemeClr>
            </a:gs>
            <a:gs pos="100000">
              <a:schemeClr val="bg2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DDBDB-889E-4575-9E0E-FD44FFBEA4D5}" type="datetimeFigureOut">
              <a:rPr lang="pl-PL" smtClean="0"/>
              <a:pPr/>
              <a:t>26.04.2023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9BDF7-C06F-412C-9830-482554CA081A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>
                <a:latin typeface="Segoe UI Variable Text Light" pitchFamily="2" charset="0"/>
              </a:rPr>
              <a:t>Podział funduszy według zawartości portfela</a:t>
            </a:r>
            <a:endParaRPr lang="pl-PL" dirty="0">
              <a:latin typeface="Segoe UI Variable Text Light" pitchFamily="2" charset="0"/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471494"/>
          </a:xfrm>
        </p:spPr>
        <p:txBody>
          <a:bodyPr>
            <a:normAutofit/>
          </a:bodyPr>
          <a:lstStyle/>
          <a:p>
            <a:r>
              <a:rPr lang="pl-PL" sz="2000" dirty="0" smtClean="0">
                <a:solidFill>
                  <a:schemeClr val="tx1">
                    <a:lumMod val="65000"/>
                  </a:schemeClr>
                </a:solidFill>
                <a:latin typeface="Segoe UI Variable Display Light" pitchFamily="2" charset="0"/>
              </a:rPr>
              <a:t>Przygotował : Jakub Wróbel 2pr</a:t>
            </a:r>
            <a:endParaRPr lang="pl-PL" sz="2000" dirty="0">
              <a:solidFill>
                <a:schemeClr val="tx1">
                  <a:lumMod val="65000"/>
                </a:schemeClr>
              </a:solidFill>
              <a:latin typeface="Segoe UI Variable Display L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/>
          <p:cNvSpPr txBox="1"/>
          <p:nvPr/>
        </p:nvSpPr>
        <p:spPr>
          <a:xfrm>
            <a:off x="357158" y="357166"/>
            <a:ext cx="8143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b="1" dirty="0">
                <a:latin typeface="Segoe UI Semilight" pitchFamily="34" charset="0"/>
                <a:cs typeface="Segoe UI Semilight" pitchFamily="34" charset="0"/>
              </a:rPr>
              <a:t>Podział funduszy według </a:t>
            </a:r>
            <a:r>
              <a:rPr lang="pl-PL" sz="3600" b="1" dirty="0" smtClean="0">
                <a:latin typeface="Segoe UI Semilight" pitchFamily="34" charset="0"/>
                <a:cs typeface="Segoe UI Semilight" pitchFamily="34" charset="0"/>
              </a:rPr>
              <a:t>zawartości</a:t>
            </a:r>
            <a:endParaRPr lang="pl-PL" sz="3600" dirty="0">
              <a:solidFill>
                <a:schemeClr val="tx1">
                  <a:lumMod val="95000"/>
                </a:schemeClr>
              </a:solidFill>
              <a:latin typeface="Segoe UI Semilight" pitchFamily="34" charset="0"/>
              <a:cs typeface="Segoe UI Semilight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857224" y="2786058"/>
            <a:ext cx="73581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 smtClean="0">
                <a:latin typeface="Segoe UI Variable Display Light" pitchFamily="2" charset="0"/>
              </a:rPr>
              <a:t>Na podstawie tego w co będziemy inwestować wyróżnia się fundusze:</a:t>
            </a:r>
          </a:p>
          <a:p>
            <a:endParaRPr lang="pl-PL" sz="2800" dirty="0" smtClean="0">
              <a:latin typeface="Segoe UI Variable Display Light" pitchFamily="2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pl-PL" sz="2800" b="1" dirty="0" smtClean="0">
                <a:latin typeface="Segoe UI Variable Display Light" pitchFamily="2" charset="0"/>
              </a:rPr>
              <a:t>Pieniężne</a:t>
            </a:r>
            <a:r>
              <a:rPr lang="pl-PL" sz="2800" b="1">
                <a:latin typeface="Segoe UI Variable Display Light" pitchFamily="2" charset="0"/>
              </a:rPr>
              <a:t>	</a:t>
            </a:r>
            <a:r>
              <a:rPr lang="pl-PL" sz="2800" smtClean="0">
                <a:solidFill>
                  <a:schemeClr val="tx1">
                    <a:lumMod val="95000"/>
                  </a:schemeClr>
                </a:solidFill>
                <a:latin typeface="Segoe UI Variable Display Light" pitchFamily="2" charset="0"/>
              </a:rPr>
              <a:t>(</a:t>
            </a:r>
            <a:r>
              <a:rPr lang="pl-PL" sz="2800" dirty="0" smtClean="0">
                <a:solidFill>
                  <a:schemeClr val="tx1">
                    <a:lumMod val="95000"/>
                  </a:schemeClr>
                </a:solidFill>
                <a:latin typeface="Segoe UI Variable Display Light" pitchFamily="2" charset="0"/>
              </a:rPr>
              <a:t>głównie w papiery wartościowe)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l-PL" sz="2800" b="1" dirty="0" smtClean="0">
                <a:latin typeface="Segoe UI Variable Display Light" pitchFamily="2" charset="0"/>
              </a:rPr>
              <a:t>Dłużne	</a:t>
            </a:r>
            <a:r>
              <a:rPr lang="pl-PL" sz="2800" dirty="0" smtClean="0">
                <a:solidFill>
                  <a:schemeClr val="tx1">
                    <a:lumMod val="95000"/>
                  </a:schemeClr>
                </a:solidFill>
                <a:latin typeface="Segoe UI Variable Display Light" pitchFamily="2" charset="0"/>
              </a:rPr>
              <a:t>(głównie w obligacje)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l-PL" sz="2800" b="1" dirty="0" smtClean="0">
                <a:latin typeface="Segoe UI Variable Display Light" pitchFamily="2" charset="0"/>
              </a:rPr>
              <a:t>Mieszane</a:t>
            </a:r>
            <a:r>
              <a:rPr lang="pl-PL" sz="2800" b="1" dirty="0">
                <a:latin typeface="Segoe UI Variable Display Light" pitchFamily="2" charset="0"/>
              </a:rPr>
              <a:t>	</a:t>
            </a:r>
            <a:r>
              <a:rPr lang="pl-PL" sz="2800" dirty="0" smtClean="0">
                <a:solidFill>
                  <a:schemeClr val="tx1">
                    <a:lumMod val="95000"/>
                  </a:schemeClr>
                </a:solidFill>
                <a:latin typeface="Segoe UI Variable Display Light" pitchFamily="2" charset="0"/>
              </a:rPr>
              <a:t>(zarówno w akcje, jak i w obligacje)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l-PL" sz="2800" b="1" dirty="0" smtClean="0">
                <a:latin typeface="Segoe UI Variable Display Light" pitchFamily="2" charset="0"/>
              </a:rPr>
              <a:t>Akcji</a:t>
            </a:r>
            <a:r>
              <a:rPr lang="pl-PL" sz="2800" b="1" dirty="0">
                <a:latin typeface="Segoe UI Variable Display Light" pitchFamily="2" charset="0"/>
              </a:rPr>
              <a:t>	</a:t>
            </a:r>
            <a:r>
              <a:rPr lang="pl-PL" sz="2800" dirty="0" smtClean="0">
                <a:solidFill>
                  <a:schemeClr val="tx1">
                    <a:lumMod val="95000"/>
                  </a:schemeClr>
                </a:solidFill>
                <a:latin typeface="Segoe UI Variable Display Light" pitchFamily="2" charset="0"/>
              </a:rPr>
              <a:t>(głównie w akcje)</a:t>
            </a:r>
            <a:endParaRPr lang="pl-PL" sz="2800" dirty="0">
              <a:solidFill>
                <a:schemeClr val="tx1">
                  <a:lumMod val="95000"/>
                </a:schemeClr>
              </a:solidFill>
              <a:latin typeface="Segoe UI Variable Display Light" pitchFamily="2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1000100" y="1357298"/>
            <a:ext cx="6715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dirty="0">
                <a:latin typeface="Segoe UI Variable Text Light" pitchFamily="2" charset="0"/>
              </a:rPr>
              <a:t>p</a:t>
            </a:r>
            <a:r>
              <a:rPr lang="pl-PL" dirty="0" smtClean="0">
                <a:latin typeface="Segoe UI Variable Text Light" pitchFamily="2" charset="0"/>
              </a:rPr>
              <a:t>olega na odpowiedniej alokacji środków inwestycyjnych w różne instrumenty inwestycyjne, aby zoptymalizować zysk i zrównoważyć ryzyko inwestycyjne.</a:t>
            </a:r>
            <a:endParaRPr lang="pl-PL" dirty="0">
              <a:latin typeface="Segoe UI Variable Text L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rostokąt 38"/>
          <p:cNvSpPr/>
          <p:nvPr/>
        </p:nvSpPr>
        <p:spPr>
          <a:xfrm>
            <a:off x="2071670" y="2347906"/>
            <a:ext cx="4000528" cy="400052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0" name="Prostokąt 39"/>
          <p:cNvSpPr/>
          <p:nvPr/>
        </p:nvSpPr>
        <p:spPr>
          <a:xfrm>
            <a:off x="2071670" y="1428736"/>
            <a:ext cx="4929222" cy="492922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Tytuł 1"/>
          <p:cNvSpPr txBox="1">
            <a:spLocks/>
          </p:cNvSpPr>
          <p:nvPr/>
        </p:nvSpPr>
        <p:spPr>
          <a:xfrm>
            <a:off x="357158" y="571480"/>
            <a:ext cx="8429684" cy="14700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Text Light" pitchFamily="2" charset="0"/>
                <a:ea typeface="+mj-ea"/>
                <a:cs typeface="+mj-cs"/>
              </a:rPr>
              <a:t>Potencjalne zyski zależne od rodzaju</a:t>
            </a:r>
            <a:r>
              <a:rPr kumimoji="0" lang="pl-PL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Variable Text Light" pitchFamily="2" charset="0"/>
                <a:ea typeface="+mj-ea"/>
                <a:cs typeface="+mj-cs"/>
              </a:rPr>
              <a:t> funduszu</a:t>
            </a:r>
            <a:endParaRPr kumimoji="0" lang="pl-PL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Variable Text Light" pitchFamily="2" charset="0"/>
              <a:ea typeface="+mj-ea"/>
              <a:cs typeface="+mj-cs"/>
            </a:endParaRPr>
          </a:p>
        </p:txBody>
      </p:sp>
      <p:cxnSp>
        <p:nvCxnSpPr>
          <p:cNvPr id="19" name="Łącznik prosty 18"/>
          <p:cNvCxnSpPr/>
          <p:nvPr/>
        </p:nvCxnSpPr>
        <p:spPr>
          <a:xfrm rot="5400000">
            <a:off x="-464753" y="3821489"/>
            <a:ext cx="5072892" cy="16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20"/>
          <p:cNvCxnSpPr/>
          <p:nvPr/>
        </p:nvCxnSpPr>
        <p:spPr>
          <a:xfrm>
            <a:off x="2071670" y="6357958"/>
            <a:ext cx="5000660" cy="9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/>
          <p:cNvCxnSpPr/>
          <p:nvPr/>
        </p:nvCxnSpPr>
        <p:spPr>
          <a:xfrm rot="5400000" flipH="1" flipV="1">
            <a:off x="2071670" y="1214422"/>
            <a:ext cx="5143536" cy="514353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ole tekstowe 25"/>
          <p:cNvSpPr txBox="1"/>
          <p:nvPr/>
        </p:nvSpPr>
        <p:spPr>
          <a:xfrm>
            <a:off x="6660826" y="6449908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latin typeface="Segoe UI Variable Display Light" pitchFamily="2" charset="0"/>
              </a:rPr>
              <a:t>zyski</a:t>
            </a:r>
            <a:endParaRPr lang="pl-PL" dirty="0">
              <a:latin typeface="Segoe UI Variable Display Light" pitchFamily="2" charset="0"/>
            </a:endParaRPr>
          </a:p>
        </p:txBody>
      </p:sp>
      <p:sp>
        <p:nvSpPr>
          <p:cNvPr id="28" name="pole tekstowe 27"/>
          <p:cNvSpPr txBox="1"/>
          <p:nvPr/>
        </p:nvSpPr>
        <p:spPr>
          <a:xfrm>
            <a:off x="500034" y="135729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Segoe UI Variable Display Light" pitchFamily="2" charset="0"/>
              </a:rPr>
              <a:t>r</a:t>
            </a:r>
            <a:r>
              <a:rPr lang="pl-PL" dirty="0" smtClean="0">
                <a:latin typeface="Segoe UI Variable Display Light" pitchFamily="2" charset="0"/>
              </a:rPr>
              <a:t>yzyko straty</a:t>
            </a:r>
            <a:endParaRPr lang="pl-PL" dirty="0">
              <a:latin typeface="Segoe UI Variable Display Light" pitchFamily="2" charset="0"/>
            </a:endParaRPr>
          </a:p>
        </p:txBody>
      </p:sp>
      <p:sp>
        <p:nvSpPr>
          <p:cNvPr id="34" name="Prostokąt 33"/>
          <p:cNvSpPr/>
          <p:nvPr/>
        </p:nvSpPr>
        <p:spPr>
          <a:xfrm>
            <a:off x="2071670" y="5357826"/>
            <a:ext cx="990608" cy="99060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7" name="Prostokąt 36"/>
          <p:cNvSpPr/>
          <p:nvPr/>
        </p:nvSpPr>
        <p:spPr>
          <a:xfrm>
            <a:off x="2071670" y="4348170"/>
            <a:ext cx="2000264" cy="200026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8" name="Prostokąt 37"/>
          <p:cNvSpPr/>
          <p:nvPr/>
        </p:nvSpPr>
        <p:spPr>
          <a:xfrm>
            <a:off x="2071670" y="3348038"/>
            <a:ext cx="3000396" cy="3000396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2" name="Elipsa 41"/>
          <p:cNvSpPr/>
          <p:nvPr/>
        </p:nvSpPr>
        <p:spPr>
          <a:xfrm>
            <a:off x="3009900" y="5322094"/>
            <a:ext cx="90499" cy="833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3" name="Elipsa 42"/>
          <p:cNvSpPr/>
          <p:nvPr/>
        </p:nvSpPr>
        <p:spPr>
          <a:xfrm>
            <a:off x="4024322" y="4310048"/>
            <a:ext cx="90499" cy="833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Elipsa 43"/>
          <p:cNvSpPr/>
          <p:nvPr/>
        </p:nvSpPr>
        <p:spPr>
          <a:xfrm>
            <a:off x="5011102" y="3307080"/>
            <a:ext cx="90499" cy="833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5" name="Elipsa 44"/>
          <p:cNvSpPr/>
          <p:nvPr/>
        </p:nvSpPr>
        <p:spPr>
          <a:xfrm>
            <a:off x="6035040" y="2304574"/>
            <a:ext cx="90499" cy="833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6" name="Elipsa 45"/>
          <p:cNvSpPr/>
          <p:nvPr/>
        </p:nvSpPr>
        <p:spPr>
          <a:xfrm>
            <a:off x="6944694" y="1390636"/>
            <a:ext cx="90499" cy="833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0" name="pole tekstowe 49"/>
          <p:cNvSpPr txBox="1"/>
          <p:nvPr/>
        </p:nvSpPr>
        <p:spPr>
          <a:xfrm>
            <a:off x="214282" y="5786454"/>
            <a:ext cx="2143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 smtClean="0">
                <a:latin typeface="Segoe UI Semilight" pitchFamily="34" charset="0"/>
                <a:cs typeface="Segoe UI Semilight" pitchFamily="34" charset="0"/>
              </a:rPr>
              <a:t>fundusze pieniężne</a:t>
            </a:r>
            <a:endParaRPr lang="pl-PL" sz="1600" dirty="0">
              <a:latin typeface="Segoe UI Semilight" pitchFamily="34" charset="0"/>
              <a:cs typeface="Segoe UI Semilight" pitchFamily="34" charset="0"/>
            </a:endParaRPr>
          </a:p>
        </p:txBody>
      </p:sp>
      <p:sp>
        <p:nvSpPr>
          <p:cNvPr id="51" name="pole tekstowe 50"/>
          <p:cNvSpPr txBox="1"/>
          <p:nvPr/>
        </p:nvSpPr>
        <p:spPr>
          <a:xfrm>
            <a:off x="0" y="4643446"/>
            <a:ext cx="2143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 smtClean="0">
                <a:latin typeface="Segoe UI Semilight" pitchFamily="34" charset="0"/>
                <a:cs typeface="Segoe UI Semilight" pitchFamily="34" charset="0"/>
              </a:rPr>
              <a:t>fundusze obligacyjne</a:t>
            </a:r>
            <a:endParaRPr lang="pl-PL" sz="1600" dirty="0">
              <a:latin typeface="Segoe UI Semilight" pitchFamily="34" charset="0"/>
              <a:cs typeface="Segoe UI Semilight" pitchFamily="34" charset="0"/>
            </a:endParaRPr>
          </a:p>
        </p:txBody>
      </p:sp>
      <p:sp>
        <p:nvSpPr>
          <p:cNvPr id="52" name="pole tekstowe 51"/>
          <p:cNvSpPr txBox="1"/>
          <p:nvPr/>
        </p:nvSpPr>
        <p:spPr>
          <a:xfrm>
            <a:off x="0" y="3214686"/>
            <a:ext cx="2143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 smtClean="0">
                <a:latin typeface="Segoe UI Semilight" pitchFamily="34" charset="0"/>
                <a:cs typeface="Segoe UI Semilight" pitchFamily="34" charset="0"/>
              </a:rPr>
              <a:t>fundusze mieszane:</a:t>
            </a:r>
            <a:endParaRPr lang="pl-PL" sz="1600" dirty="0">
              <a:latin typeface="Segoe UI Semilight" pitchFamily="34" charset="0"/>
              <a:cs typeface="Segoe UI Semilight" pitchFamily="34" charset="0"/>
            </a:endParaRPr>
          </a:p>
        </p:txBody>
      </p:sp>
      <p:sp>
        <p:nvSpPr>
          <p:cNvPr id="53" name="pole tekstowe 52"/>
          <p:cNvSpPr txBox="1"/>
          <p:nvPr/>
        </p:nvSpPr>
        <p:spPr>
          <a:xfrm>
            <a:off x="285720" y="1785926"/>
            <a:ext cx="2143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 smtClean="0">
                <a:latin typeface="Segoe UI Semilight" pitchFamily="34" charset="0"/>
                <a:cs typeface="Segoe UI Semilight" pitchFamily="34" charset="0"/>
              </a:rPr>
              <a:t>fundusze akcyjne</a:t>
            </a:r>
            <a:endParaRPr lang="pl-PL" sz="1600" dirty="0">
              <a:latin typeface="Segoe UI Semilight" pitchFamily="34" charset="0"/>
              <a:cs typeface="Segoe UI Semilight" pitchFamily="34" charset="0"/>
            </a:endParaRPr>
          </a:p>
        </p:txBody>
      </p:sp>
      <p:sp>
        <p:nvSpPr>
          <p:cNvPr id="54" name="pole tekstowe 53"/>
          <p:cNvSpPr txBox="1"/>
          <p:nvPr/>
        </p:nvSpPr>
        <p:spPr>
          <a:xfrm>
            <a:off x="428596" y="3643314"/>
            <a:ext cx="1714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 smtClean="0">
                <a:latin typeface="Segoe UI Semilight" pitchFamily="34" charset="0"/>
                <a:cs typeface="Segoe UI Semilight" pitchFamily="34" charset="0"/>
              </a:rPr>
              <a:t>-stabilnego wzrostu</a:t>
            </a:r>
          </a:p>
          <a:p>
            <a:r>
              <a:rPr lang="pl-PL" sz="1400" dirty="0" smtClean="0">
                <a:latin typeface="Segoe UI Semilight" pitchFamily="34" charset="0"/>
                <a:cs typeface="Segoe UI Semilight" pitchFamily="34" charset="0"/>
              </a:rPr>
              <a:t>(30% akcji)</a:t>
            </a:r>
            <a:endParaRPr lang="pl-PL" sz="1400" dirty="0">
              <a:latin typeface="Segoe UI Semilight" pitchFamily="34" charset="0"/>
              <a:cs typeface="Segoe UI Semilight" pitchFamily="34" charset="0"/>
            </a:endParaRPr>
          </a:p>
        </p:txBody>
      </p:sp>
      <p:sp>
        <p:nvSpPr>
          <p:cNvPr id="56" name="pole tekstowe 55"/>
          <p:cNvSpPr txBox="1"/>
          <p:nvPr/>
        </p:nvSpPr>
        <p:spPr>
          <a:xfrm>
            <a:off x="428596" y="2714620"/>
            <a:ext cx="1714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latin typeface="Segoe UI Semilight" pitchFamily="34" charset="0"/>
                <a:cs typeface="Segoe UI Semilight" pitchFamily="34" charset="0"/>
              </a:rPr>
              <a:t>-</a:t>
            </a:r>
            <a:r>
              <a:rPr lang="pl-PL" sz="1400" dirty="0" smtClean="0">
                <a:latin typeface="Segoe UI Semilight" pitchFamily="34" charset="0"/>
                <a:cs typeface="Segoe UI Semilight" pitchFamily="34" charset="0"/>
              </a:rPr>
              <a:t>zrównoważone</a:t>
            </a:r>
          </a:p>
          <a:p>
            <a:r>
              <a:rPr lang="pl-PL" sz="1400" dirty="0" smtClean="0">
                <a:latin typeface="Segoe UI Semilight" pitchFamily="34" charset="0"/>
                <a:cs typeface="Segoe UI Semilight" pitchFamily="34" charset="0"/>
              </a:rPr>
              <a:t>(równe części)</a:t>
            </a:r>
            <a:endParaRPr lang="pl-PL" sz="1400" dirty="0">
              <a:latin typeface="Segoe UI Semilight" pitchFamily="34" charset="0"/>
              <a:cs typeface="Segoe UI Semi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/>
          <p:cNvSpPr txBox="1"/>
          <p:nvPr/>
        </p:nvSpPr>
        <p:spPr>
          <a:xfrm>
            <a:off x="142844" y="6143644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 smtClean="0">
                <a:latin typeface="Segoe UI Variable Display Light" pitchFamily="2" charset="0"/>
              </a:rPr>
              <a:t>Źródła:</a:t>
            </a:r>
            <a:br>
              <a:rPr lang="pl-PL" sz="1400" dirty="0" smtClean="0">
                <a:latin typeface="Segoe UI Variable Display Light" pitchFamily="2" charset="0"/>
              </a:rPr>
            </a:br>
            <a:r>
              <a:rPr lang="pl-PL" sz="1400" dirty="0" smtClean="0">
                <a:latin typeface="Segoe UI Variable Display Light" pitchFamily="2" charset="0"/>
              </a:rPr>
              <a:t>-podręcznik „Krok w przedsiębiorczość”</a:t>
            </a:r>
            <a:endParaRPr lang="pl-PL" sz="1400" dirty="0">
              <a:latin typeface="Segoe UI Variable Display Light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2727" t="6091" r="3655"/>
          <a:stretch>
            <a:fillRect/>
          </a:stretch>
        </p:blipFill>
        <p:spPr bwMode="auto">
          <a:xfrm>
            <a:off x="285720" y="571480"/>
            <a:ext cx="8591266" cy="514353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79</Words>
  <Application>Microsoft Office PowerPoint</Application>
  <PresentationFormat>Pokaz na ekranie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5" baseType="lpstr">
      <vt:lpstr>Motyw pakietu Office</vt:lpstr>
      <vt:lpstr>Podział funduszy według zawartości portfela</vt:lpstr>
      <vt:lpstr>Slajd 2</vt:lpstr>
      <vt:lpstr>Slajd 3</vt:lpstr>
      <vt:lpstr>Slajd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Jakub Wróbel</dc:creator>
  <cp:lastModifiedBy>Jakub Wróbel</cp:lastModifiedBy>
  <cp:revision>22</cp:revision>
  <dcterms:created xsi:type="dcterms:W3CDTF">2023-04-26T18:42:11Z</dcterms:created>
  <dcterms:modified xsi:type="dcterms:W3CDTF">2023-04-26T21:57:18Z</dcterms:modified>
</cp:coreProperties>
</file>